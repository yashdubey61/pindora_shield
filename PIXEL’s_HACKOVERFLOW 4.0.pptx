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8"/>
    </p:embeddedFont>
    <p:embeddedFont>
      <p:font typeface="Garet Bold" panose="020B0604020202020204" charset="0"/>
      <p:regular r:id="rId9"/>
    </p:embeddedFont>
    <p:embeddedFont>
      <p:font typeface="League Spartan" panose="020B0604020202020204" charset="0"/>
      <p:regular r:id="rId10"/>
    </p:embeddedFont>
    <p:embeddedFont>
      <p:font typeface="Lora" panose="020F0502020204030204" pitchFamily="2" charset="0"/>
      <p:regular r:id="rId11"/>
    </p:embeddedFont>
    <p:embeddedFont>
      <p:font typeface="Lora Bold" panose="020B0604020202020204" charset="0"/>
      <p:regular r:id="rId12"/>
    </p:embeddedFont>
    <p:embeddedFont>
      <p:font typeface="Montserrat" panose="00000500000000000000" pitchFamily="2" charset="0"/>
      <p:regular r:id="rId13"/>
    </p:embeddedFont>
    <p:embeddedFont>
      <p:font typeface="Montserrat Bold" panose="00000800000000000000" charset="0"/>
      <p:regular r:id="rId14"/>
    </p:embeddedFont>
    <p:embeddedFont>
      <p:font typeface="Montserrat Medium" panose="020F0502020204030204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1757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5.svg"/><Relationship Id="rId18" Type="http://schemas.openxmlformats.org/officeDocument/2006/relationships/image" Target="../media/image11.svg"/><Relationship Id="rId3" Type="http://schemas.openxmlformats.org/officeDocument/2006/relationships/image" Target="../media/image3.png"/><Relationship Id="rId7" Type="http://schemas.openxmlformats.org/officeDocument/2006/relationships/image" Target="../media/image20.svg"/><Relationship Id="rId12" Type="http://schemas.openxmlformats.org/officeDocument/2006/relationships/image" Target="../media/image4.png"/><Relationship Id="rId17" Type="http://schemas.openxmlformats.org/officeDocument/2006/relationships/image" Target="../media/image10.png"/><Relationship Id="rId2" Type="http://schemas.openxmlformats.org/officeDocument/2006/relationships/image" Target="../media/image2.png"/><Relationship Id="rId16" Type="http://schemas.openxmlformats.org/officeDocument/2006/relationships/image" Target="../media/image16.svg"/><Relationship Id="rId20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png"/><Relationship Id="rId15" Type="http://schemas.openxmlformats.org/officeDocument/2006/relationships/image" Target="../media/image15.png"/><Relationship Id="rId10" Type="http://schemas.openxmlformats.org/officeDocument/2006/relationships/image" Target="../media/image23.png"/><Relationship Id="rId19" Type="http://schemas.openxmlformats.org/officeDocument/2006/relationships/image" Target="../media/image6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5.svg"/><Relationship Id="rId10" Type="http://schemas.openxmlformats.org/officeDocument/2006/relationships/image" Target="../media/image30.png"/><Relationship Id="rId4" Type="http://schemas.openxmlformats.org/officeDocument/2006/relationships/image" Target="../media/image4.png"/><Relationship Id="rId9" Type="http://schemas.openxmlformats.org/officeDocument/2006/relationships/image" Target="../media/image2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440799"/>
            <a:ext cx="18307050" cy="855726"/>
            <a:chOff x="0" y="0"/>
            <a:chExt cx="24409400" cy="114096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115568"/>
            </a:xfrm>
            <a:custGeom>
              <a:avLst/>
              <a:gdLst/>
              <a:ahLst/>
              <a:cxnLst/>
              <a:rect l="l" t="t" r="r" b="b"/>
              <a:pathLst>
                <a:path w="24384000" h="1115568">
                  <a:moveTo>
                    <a:pt x="0" y="0"/>
                  </a:moveTo>
                  <a:lnTo>
                    <a:pt x="24384000" y="0"/>
                  </a:lnTo>
                  <a:lnTo>
                    <a:pt x="24384000" y="1115568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C1D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140968"/>
            </a:xfrm>
            <a:custGeom>
              <a:avLst/>
              <a:gdLst/>
              <a:ahLst/>
              <a:cxnLst/>
              <a:rect l="l" t="t" r="r" b="b"/>
              <a:pathLst>
                <a:path w="24409400" h="1140968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128268"/>
                  </a:lnTo>
                  <a:cubicBezTo>
                    <a:pt x="24409400" y="1135253"/>
                    <a:pt x="24403686" y="1140968"/>
                    <a:pt x="24396700" y="1140968"/>
                  </a:cubicBezTo>
                  <a:lnTo>
                    <a:pt x="12700" y="1140968"/>
                  </a:lnTo>
                  <a:cubicBezTo>
                    <a:pt x="5715" y="1140968"/>
                    <a:pt x="0" y="1135253"/>
                    <a:pt x="0" y="112826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28268"/>
                  </a:lnTo>
                  <a:lnTo>
                    <a:pt x="12700" y="1128268"/>
                  </a:lnTo>
                  <a:lnTo>
                    <a:pt x="12700" y="1115568"/>
                  </a:lnTo>
                  <a:lnTo>
                    <a:pt x="24396700" y="1115568"/>
                  </a:lnTo>
                  <a:lnTo>
                    <a:pt x="24396700" y="1128268"/>
                  </a:lnTo>
                  <a:lnTo>
                    <a:pt x="24384000" y="112826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409400" cy="114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                                                                                                                                                                                              1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306324" y="199501"/>
            <a:ext cx="10968095" cy="1110739"/>
          </a:xfrm>
          <a:custGeom>
            <a:avLst/>
            <a:gdLst/>
            <a:ahLst/>
            <a:cxnLst/>
            <a:rect l="l" t="t" r="r" b="b"/>
            <a:pathLst>
              <a:path w="10968095" h="1110739">
                <a:moveTo>
                  <a:pt x="0" y="0"/>
                </a:moveTo>
                <a:lnTo>
                  <a:pt x="10968095" y="0"/>
                </a:lnTo>
                <a:lnTo>
                  <a:pt x="10968095" y="1110739"/>
                </a:lnTo>
                <a:lnTo>
                  <a:pt x="0" y="11107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887936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965148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73608" y="1355950"/>
            <a:ext cx="11864169" cy="462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Pillai HOC College of Engineering and Technology ( Autonomous 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4628" y="3851519"/>
            <a:ext cx="4125644" cy="493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8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COLLEGE NAME: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4628" y="5122021"/>
            <a:ext cx="206282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 :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3608" y="6195560"/>
            <a:ext cx="4456354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MEMBERS: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4628" y="2468051"/>
            <a:ext cx="3354036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TEAM NAME: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31562" y="2398132"/>
            <a:ext cx="5534279" cy="59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2"/>
              </a:lnSpc>
              <a:spcBef>
                <a:spcPct val="0"/>
              </a:spcBef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PIXEL’</a:t>
            </a:r>
            <a:r>
              <a:rPr lang="en-US" sz="3530" b="1" u="none" strike="noStrik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21747" y="3748396"/>
            <a:ext cx="9488186" cy="59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2"/>
              </a:lnSpc>
              <a:spcBef>
                <a:spcPct val="0"/>
              </a:spcBef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AITM, KANPUR &amp; PSIT, KANPUR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47451" y="5087483"/>
            <a:ext cx="9488186" cy="59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2"/>
              </a:lnSpc>
              <a:spcBef>
                <a:spcPct val="0"/>
              </a:spcBef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UTTAR PRADESH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0479" y="6128885"/>
            <a:ext cx="9488186" cy="3072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2128" lvl="1" indent="-381064" algn="l">
              <a:lnSpc>
                <a:spcPts val="4942"/>
              </a:lnSpc>
              <a:buFont typeface="Arial"/>
              <a:buChar char="•"/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Yash Dubey, </a:t>
            </a:r>
            <a:r>
              <a:rPr lang="en-US" sz="3530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Garet Bold"/>
                <a:ea typeface="Garet Bold"/>
                <a:cs typeface="Garet Bold"/>
                <a:sym typeface="Garet Bold"/>
              </a:rPr>
              <a:t>LEADER</a:t>
            </a: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, AITM</a:t>
            </a:r>
          </a:p>
          <a:p>
            <a:pPr marL="762128" lvl="1" indent="-381064" algn="l">
              <a:lnSpc>
                <a:spcPts val="4942"/>
              </a:lnSpc>
              <a:buFont typeface="Arial"/>
              <a:buChar char="•"/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Harsh Kumar, AITM</a:t>
            </a:r>
          </a:p>
          <a:p>
            <a:pPr marL="762128" lvl="1" indent="-381064" algn="l">
              <a:lnSpc>
                <a:spcPts val="4942"/>
              </a:lnSpc>
              <a:buFont typeface="Arial"/>
              <a:buChar char="•"/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Gopal JI Dwivedi, AITM</a:t>
            </a:r>
          </a:p>
          <a:p>
            <a:pPr marL="762128" lvl="1" indent="-381064" algn="l">
              <a:lnSpc>
                <a:spcPts val="4942"/>
              </a:lnSpc>
              <a:buFont typeface="Arial"/>
              <a:buChar char="•"/>
            </a:pPr>
            <a:r>
              <a:rPr lang="en-US" sz="353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Sumit Singh, PSIT </a:t>
            </a:r>
          </a:p>
          <a:p>
            <a:pPr marL="0" lvl="0" indent="0" algn="l">
              <a:lnSpc>
                <a:spcPts val="4942"/>
              </a:lnSpc>
              <a:spcBef>
                <a:spcPct val="0"/>
              </a:spcBef>
            </a:pPr>
            <a:endParaRPr lang="en-US" sz="3530" b="1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440799"/>
            <a:ext cx="18307050" cy="855726"/>
            <a:chOff x="0" y="0"/>
            <a:chExt cx="24409400" cy="114096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115568"/>
            </a:xfrm>
            <a:custGeom>
              <a:avLst/>
              <a:gdLst/>
              <a:ahLst/>
              <a:cxnLst/>
              <a:rect l="l" t="t" r="r" b="b"/>
              <a:pathLst>
                <a:path w="24384000" h="1115568">
                  <a:moveTo>
                    <a:pt x="0" y="0"/>
                  </a:moveTo>
                  <a:lnTo>
                    <a:pt x="24384000" y="0"/>
                  </a:lnTo>
                  <a:lnTo>
                    <a:pt x="24384000" y="1115568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C1D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140968"/>
            </a:xfrm>
            <a:custGeom>
              <a:avLst/>
              <a:gdLst/>
              <a:ahLst/>
              <a:cxnLst/>
              <a:rect l="l" t="t" r="r" b="b"/>
              <a:pathLst>
                <a:path w="24409400" h="1140968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128268"/>
                  </a:lnTo>
                  <a:cubicBezTo>
                    <a:pt x="24409400" y="1135253"/>
                    <a:pt x="24403686" y="1140968"/>
                    <a:pt x="24396700" y="1140968"/>
                  </a:cubicBezTo>
                  <a:lnTo>
                    <a:pt x="12700" y="1140968"/>
                  </a:lnTo>
                  <a:cubicBezTo>
                    <a:pt x="5715" y="1140968"/>
                    <a:pt x="0" y="1135253"/>
                    <a:pt x="0" y="112826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28268"/>
                  </a:lnTo>
                  <a:lnTo>
                    <a:pt x="12700" y="1128268"/>
                  </a:lnTo>
                  <a:lnTo>
                    <a:pt x="12700" y="1115568"/>
                  </a:lnTo>
                  <a:lnTo>
                    <a:pt x="24396700" y="1115568"/>
                  </a:lnTo>
                  <a:lnTo>
                    <a:pt x="24396700" y="1128268"/>
                  </a:lnTo>
                  <a:lnTo>
                    <a:pt x="24384000" y="112826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409400" cy="114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Pillai HOC College of Engineering and Technology ( Autonomous )                                                                                                                           2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887936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65148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57089" y="442341"/>
            <a:ext cx="9413977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3424" y="2242251"/>
            <a:ext cx="15990325" cy="163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634" lvl="1" indent="-309817" algn="l">
              <a:lnSpc>
                <a:spcPts val="4419"/>
              </a:lnSpc>
              <a:buFont typeface="Arial"/>
              <a:buChar char="•"/>
            </a:pPr>
            <a:r>
              <a:rPr lang="en-US" sz="287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Drug discovery is </a:t>
            </a:r>
            <a:r>
              <a:rPr lang="en-US" sz="2870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slow, expensive, and highly trial-and-error</a:t>
            </a:r>
            <a:r>
              <a:rPr lang="en-US" sz="2870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87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driven.</a:t>
            </a:r>
          </a:p>
          <a:p>
            <a:pPr marL="619634" lvl="1" indent="-309817" algn="l">
              <a:lnSpc>
                <a:spcPts val="4419"/>
              </a:lnSpc>
              <a:buFont typeface="Arial"/>
              <a:buChar char="•"/>
            </a:pPr>
            <a:r>
              <a:rPr lang="en-US" sz="287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Existing computational tools struggle with limited molecular diversity, slow exploration, and poor usability.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04310" y="1562759"/>
            <a:ext cx="2837396" cy="59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2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oblem</a:t>
            </a:r>
          </a:p>
        </p:txBody>
      </p:sp>
      <p:sp>
        <p:nvSpPr>
          <p:cNvPr id="11" name="Freeform 11"/>
          <p:cNvSpPr/>
          <p:nvPr/>
        </p:nvSpPr>
        <p:spPr>
          <a:xfrm>
            <a:off x="-6257659" y="-2350470"/>
            <a:ext cx="11966033" cy="11987829"/>
          </a:xfrm>
          <a:custGeom>
            <a:avLst/>
            <a:gdLst/>
            <a:ahLst/>
            <a:cxnLst/>
            <a:rect l="l" t="t" r="r" b="b"/>
            <a:pathLst>
              <a:path w="11966033" h="11987829">
                <a:moveTo>
                  <a:pt x="0" y="0"/>
                </a:moveTo>
                <a:lnTo>
                  <a:pt x="11966033" y="0"/>
                </a:lnTo>
                <a:lnTo>
                  <a:pt x="11966033" y="11987829"/>
                </a:lnTo>
                <a:lnTo>
                  <a:pt x="0" y="11987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6938588" y="4145253"/>
            <a:ext cx="4697632" cy="998247"/>
          </a:xfrm>
          <a:custGeom>
            <a:avLst/>
            <a:gdLst/>
            <a:ahLst/>
            <a:cxnLst/>
            <a:rect l="l" t="t" r="r" b="b"/>
            <a:pathLst>
              <a:path w="4697632" h="998247">
                <a:moveTo>
                  <a:pt x="0" y="0"/>
                </a:moveTo>
                <a:lnTo>
                  <a:pt x="4697633" y="0"/>
                </a:lnTo>
                <a:lnTo>
                  <a:pt x="4697633" y="998247"/>
                </a:lnTo>
                <a:lnTo>
                  <a:pt x="0" y="9982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903424" y="3321354"/>
            <a:ext cx="7171907" cy="986137"/>
          </a:xfrm>
          <a:custGeom>
            <a:avLst/>
            <a:gdLst/>
            <a:ahLst/>
            <a:cxnLst/>
            <a:rect l="l" t="t" r="r" b="b"/>
            <a:pathLst>
              <a:path w="7171907" h="986137">
                <a:moveTo>
                  <a:pt x="0" y="0"/>
                </a:moveTo>
                <a:lnTo>
                  <a:pt x="7171907" y="0"/>
                </a:lnTo>
                <a:lnTo>
                  <a:pt x="7171907" y="986137"/>
                </a:lnTo>
                <a:lnTo>
                  <a:pt x="0" y="986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5400000">
            <a:off x="6050170" y="5901911"/>
            <a:ext cx="2139898" cy="143104"/>
          </a:xfrm>
          <a:custGeom>
            <a:avLst/>
            <a:gdLst/>
            <a:ahLst/>
            <a:cxnLst/>
            <a:rect l="l" t="t" r="r" b="b"/>
            <a:pathLst>
              <a:path w="2139898" h="143104">
                <a:moveTo>
                  <a:pt x="0" y="0"/>
                </a:moveTo>
                <a:lnTo>
                  <a:pt x="2139898" y="0"/>
                </a:lnTo>
                <a:lnTo>
                  <a:pt x="2139898" y="143104"/>
                </a:lnTo>
                <a:lnTo>
                  <a:pt x="0" y="1431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3534071" y="6963610"/>
            <a:ext cx="7315200" cy="159604"/>
          </a:xfrm>
          <a:custGeom>
            <a:avLst/>
            <a:gdLst/>
            <a:ahLst/>
            <a:cxnLst/>
            <a:rect l="l" t="t" r="r" b="b"/>
            <a:pathLst>
              <a:path w="7315200" h="159604">
                <a:moveTo>
                  <a:pt x="0" y="0"/>
                </a:moveTo>
                <a:lnTo>
                  <a:pt x="7315200" y="0"/>
                </a:lnTo>
                <a:lnTo>
                  <a:pt x="7315200" y="159604"/>
                </a:lnTo>
                <a:lnTo>
                  <a:pt x="0" y="1596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28700" y="5194815"/>
            <a:ext cx="6760149" cy="163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9634" lvl="1" indent="-309817" algn="l">
              <a:lnSpc>
                <a:spcPts val="4419"/>
              </a:lnSpc>
              <a:buFont typeface="Arial"/>
              <a:buChar char="•"/>
            </a:pPr>
            <a:r>
              <a:rPr lang="en-US" sz="2870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Pharmaceutical researchers.</a:t>
            </a:r>
          </a:p>
          <a:p>
            <a:pPr marL="619634" lvl="1" indent="-309817" algn="l">
              <a:lnSpc>
                <a:spcPts val="4419"/>
              </a:lnSpc>
              <a:buFont typeface="Arial"/>
              <a:buChar char="•"/>
            </a:pPr>
            <a:r>
              <a:rPr lang="en-US" sz="2870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Drug discovery labs.</a:t>
            </a:r>
          </a:p>
          <a:p>
            <a:pPr marL="619634" lvl="1" indent="-309817" algn="l">
              <a:lnSpc>
                <a:spcPts val="4419"/>
              </a:lnSpc>
              <a:buFont typeface="Arial"/>
              <a:buChar char="•"/>
            </a:pPr>
            <a:r>
              <a:rPr lang="en-US" sz="287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Biotech startups.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04310" y="4485470"/>
            <a:ext cx="5534279" cy="596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2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 is affected ?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486625" y="5194815"/>
            <a:ext cx="10335726" cy="163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672" lvl="1" indent="-309336" algn="l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Traditional pipelines take</a:t>
            </a: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10–15 years</a:t>
            </a: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with high failure rates.</a:t>
            </a:r>
          </a:p>
          <a:p>
            <a:pPr marL="618672" lvl="1" indent="-309336" algn="l">
              <a:lnSpc>
                <a:spcPts val="4412"/>
              </a:lnSpc>
              <a:buFont typeface="Arial"/>
              <a:buChar char="•"/>
            </a:pP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Early-stage molecule screening is a major bottleneck.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36564" y="4479594"/>
            <a:ext cx="4494938" cy="60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3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this matters?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13091" y="7617155"/>
            <a:ext cx="12351515" cy="163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672" lvl="1" indent="-309336" algn="l">
              <a:lnSpc>
                <a:spcPts val="4412"/>
              </a:lnSpc>
              <a:buFont typeface="Arial"/>
              <a:buChar char="•"/>
            </a:pP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AI models generate </a:t>
            </a: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invalid or low-novelty molecules.</a:t>
            </a:r>
          </a:p>
          <a:p>
            <a:pPr marL="618672" lvl="1" indent="-309336" algn="l">
              <a:lnSpc>
                <a:spcPts val="4412"/>
              </a:lnSpc>
              <a:buFont typeface="Arial"/>
              <a:buChar char="•"/>
            </a:pP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Academic models </a:t>
            </a: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lack practical research</a:t>
            </a: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workflows.</a:t>
            </a:r>
          </a:p>
          <a:p>
            <a:pPr marL="618672" lvl="1" indent="-309336" algn="l">
              <a:lnSpc>
                <a:spcPts val="4412"/>
              </a:lnSpc>
              <a:buFont typeface="Arial"/>
              <a:buChar char="•"/>
            </a:pPr>
            <a:r>
              <a:rPr lang="en-US" sz="286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Fragmented tools for generation, evaluation, and comparison.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218164" y="7162345"/>
            <a:ext cx="8536922" cy="602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43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Limita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tions of existing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440799"/>
            <a:ext cx="18307050" cy="855726"/>
            <a:chOff x="0" y="0"/>
            <a:chExt cx="24409400" cy="114096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115568"/>
            </a:xfrm>
            <a:custGeom>
              <a:avLst/>
              <a:gdLst/>
              <a:ahLst/>
              <a:cxnLst/>
              <a:rect l="l" t="t" r="r" b="b"/>
              <a:pathLst>
                <a:path w="24384000" h="1115568">
                  <a:moveTo>
                    <a:pt x="0" y="0"/>
                  </a:moveTo>
                  <a:lnTo>
                    <a:pt x="24384000" y="0"/>
                  </a:lnTo>
                  <a:lnTo>
                    <a:pt x="24384000" y="1115568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C1D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140968"/>
            </a:xfrm>
            <a:custGeom>
              <a:avLst/>
              <a:gdLst/>
              <a:ahLst/>
              <a:cxnLst/>
              <a:rect l="l" t="t" r="r" b="b"/>
              <a:pathLst>
                <a:path w="24409400" h="1140968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128268"/>
                  </a:lnTo>
                  <a:cubicBezTo>
                    <a:pt x="24409400" y="1135253"/>
                    <a:pt x="24403686" y="1140968"/>
                    <a:pt x="24396700" y="1140968"/>
                  </a:cubicBezTo>
                  <a:lnTo>
                    <a:pt x="12700" y="1140968"/>
                  </a:lnTo>
                  <a:cubicBezTo>
                    <a:pt x="5715" y="1140968"/>
                    <a:pt x="0" y="1135253"/>
                    <a:pt x="0" y="112826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28268"/>
                  </a:lnTo>
                  <a:lnTo>
                    <a:pt x="12700" y="1128268"/>
                  </a:lnTo>
                  <a:lnTo>
                    <a:pt x="12700" y="1115568"/>
                  </a:lnTo>
                  <a:lnTo>
                    <a:pt x="24396700" y="1115568"/>
                  </a:lnTo>
                  <a:lnTo>
                    <a:pt x="24396700" y="1128268"/>
                  </a:lnTo>
                  <a:lnTo>
                    <a:pt x="24384000" y="112826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409400" cy="114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Pillai HOC College of Engineering and Technology ( Autonomous )                                                                                                                           3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887936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65148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0" y="1472489"/>
            <a:ext cx="11124275" cy="7342021"/>
          </a:xfrm>
          <a:custGeom>
            <a:avLst/>
            <a:gdLst/>
            <a:ahLst/>
            <a:cxnLst/>
            <a:rect l="l" t="t" r="r" b="b"/>
            <a:pathLst>
              <a:path w="11124275" h="7342021">
                <a:moveTo>
                  <a:pt x="0" y="0"/>
                </a:moveTo>
                <a:lnTo>
                  <a:pt x="11124275" y="0"/>
                </a:lnTo>
                <a:lnTo>
                  <a:pt x="11124275" y="7342022"/>
                </a:lnTo>
                <a:lnTo>
                  <a:pt x="0" y="73420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272754" y="878508"/>
            <a:ext cx="20574" cy="4114800"/>
          </a:xfrm>
          <a:custGeom>
            <a:avLst/>
            <a:gdLst/>
            <a:ahLst/>
            <a:cxnLst/>
            <a:rect l="l" t="t" r="r" b="b"/>
            <a:pathLst>
              <a:path w="20574" h="4114800">
                <a:moveTo>
                  <a:pt x="0" y="0"/>
                </a:moveTo>
                <a:lnTo>
                  <a:pt x="20574" y="0"/>
                </a:lnTo>
                <a:lnTo>
                  <a:pt x="205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1376024" y="3220363"/>
            <a:ext cx="20574" cy="4114800"/>
          </a:xfrm>
          <a:custGeom>
            <a:avLst/>
            <a:gdLst/>
            <a:ahLst/>
            <a:cxnLst/>
            <a:rect l="l" t="t" r="r" b="b"/>
            <a:pathLst>
              <a:path w="20574" h="4114800">
                <a:moveTo>
                  <a:pt x="0" y="0"/>
                </a:moveTo>
                <a:lnTo>
                  <a:pt x="20574" y="0"/>
                </a:lnTo>
                <a:lnTo>
                  <a:pt x="205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293328" y="5143500"/>
            <a:ext cx="20574" cy="4114800"/>
          </a:xfrm>
          <a:custGeom>
            <a:avLst/>
            <a:gdLst/>
            <a:ahLst/>
            <a:cxnLst/>
            <a:rect l="l" t="t" r="r" b="b"/>
            <a:pathLst>
              <a:path w="20574" h="4114800">
                <a:moveTo>
                  <a:pt x="0" y="0"/>
                </a:moveTo>
                <a:lnTo>
                  <a:pt x="20574" y="0"/>
                </a:lnTo>
                <a:lnTo>
                  <a:pt x="205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57089" y="442341"/>
            <a:ext cx="8868156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PROPOSED SOLUTION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272754" y="1936833"/>
            <a:ext cx="7015246" cy="7130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7226" lvl="1" indent="-248613" algn="l">
              <a:lnSpc>
                <a:spcPts val="3546"/>
              </a:lnSpc>
              <a:buFont typeface="Arial"/>
              <a:buChar char="•"/>
            </a:pPr>
            <a:r>
              <a:rPr lang="en-US" sz="2303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Disease and Target Protein Identification</a:t>
            </a:r>
            <a:r>
              <a:rPr lang="en-US" sz="230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Identify target proteins from biological databases using specific disease information.</a:t>
            </a:r>
          </a:p>
          <a:p>
            <a:pPr marL="497226" lvl="1" indent="-248613" algn="l">
              <a:lnSpc>
                <a:spcPts val="3546"/>
              </a:lnSpc>
              <a:buFont typeface="Arial"/>
              <a:buChar char="•"/>
            </a:pPr>
            <a:r>
              <a:rPr lang="en-US" sz="2303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SMILES-Based Molecular Data Retrieval</a:t>
            </a:r>
            <a:r>
              <a:rPr lang="en-US" sz="230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Retrieve existing drug molecules and represent them using SMILES chemical strings.</a:t>
            </a:r>
          </a:p>
          <a:p>
            <a:pPr marL="497226" lvl="1" indent="-248613" algn="l">
              <a:lnSpc>
                <a:spcPts val="3546"/>
              </a:lnSpc>
              <a:buFont typeface="Arial"/>
              <a:buChar char="•"/>
            </a:pPr>
            <a:r>
              <a:rPr lang="en-US" sz="2303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AI-Driven De Novo Molecule Generation</a:t>
            </a:r>
            <a:r>
              <a:rPr lang="en-US" sz="230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Generate novel candidate molecules by analyzing patterns with generative AI models.</a:t>
            </a:r>
          </a:p>
          <a:p>
            <a:pPr marL="497226" lvl="1" indent="-248613" algn="l">
              <a:lnSpc>
                <a:spcPts val="3546"/>
              </a:lnSpc>
              <a:buFont typeface="Arial"/>
              <a:buChar char="•"/>
            </a:pPr>
            <a:r>
              <a:rPr lang="en-US" sz="2303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Multi-Parameter Evaluation and Shortlisting</a:t>
            </a:r>
            <a:r>
              <a:rPr lang="en-US" sz="230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Evaluate thousands of candidates based on binding affinity and clinical data.</a:t>
            </a:r>
          </a:p>
          <a:p>
            <a:pPr marL="497226" lvl="1" indent="-248613" algn="l">
              <a:lnSpc>
                <a:spcPts val="3546"/>
              </a:lnSpc>
              <a:buFont typeface="Arial"/>
              <a:buChar char="•"/>
            </a:pPr>
            <a:r>
              <a:rPr lang="en-US" sz="2303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Comparative Analysis and Ranking Rank</a:t>
            </a:r>
            <a:r>
              <a:rPr lang="en-US" sz="230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optimized candidates against existing medicines for safety and overall effectiveness.</a:t>
            </a:r>
          </a:p>
          <a:p>
            <a:pPr algn="l">
              <a:lnSpc>
                <a:spcPts val="3546"/>
              </a:lnSpc>
            </a:pPr>
            <a:endParaRPr lang="en-US" sz="2303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6257659" y="-2350470"/>
            <a:ext cx="11966033" cy="11987829"/>
          </a:xfrm>
          <a:custGeom>
            <a:avLst/>
            <a:gdLst/>
            <a:ahLst/>
            <a:cxnLst/>
            <a:rect l="l" t="t" r="r" b="b"/>
            <a:pathLst>
              <a:path w="11966033" h="11987829">
                <a:moveTo>
                  <a:pt x="0" y="0"/>
                </a:moveTo>
                <a:lnTo>
                  <a:pt x="11966033" y="0"/>
                </a:lnTo>
                <a:lnTo>
                  <a:pt x="11966033" y="11987829"/>
                </a:lnTo>
                <a:lnTo>
                  <a:pt x="0" y="119878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440799"/>
            <a:ext cx="18307050" cy="855726"/>
            <a:chOff x="0" y="0"/>
            <a:chExt cx="24409400" cy="114096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115568"/>
            </a:xfrm>
            <a:custGeom>
              <a:avLst/>
              <a:gdLst/>
              <a:ahLst/>
              <a:cxnLst/>
              <a:rect l="l" t="t" r="r" b="b"/>
              <a:pathLst>
                <a:path w="24384000" h="1115568">
                  <a:moveTo>
                    <a:pt x="0" y="0"/>
                  </a:moveTo>
                  <a:lnTo>
                    <a:pt x="24384000" y="0"/>
                  </a:lnTo>
                  <a:lnTo>
                    <a:pt x="24384000" y="1115568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C1D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140968"/>
            </a:xfrm>
            <a:custGeom>
              <a:avLst/>
              <a:gdLst/>
              <a:ahLst/>
              <a:cxnLst/>
              <a:rect l="l" t="t" r="r" b="b"/>
              <a:pathLst>
                <a:path w="24409400" h="1140968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128268"/>
                  </a:lnTo>
                  <a:cubicBezTo>
                    <a:pt x="24409400" y="1135253"/>
                    <a:pt x="24403686" y="1140968"/>
                    <a:pt x="24396700" y="1140968"/>
                  </a:cubicBezTo>
                  <a:lnTo>
                    <a:pt x="12700" y="1140968"/>
                  </a:lnTo>
                  <a:cubicBezTo>
                    <a:pt x="5715" y="1140968"/>
                    <a:pt x="0" y="1135253"/>
                    <a:pt x="0" y="112826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28268"/>
                  </a:lnTo>
                  <a:lnTo>
                    <a:pt x="12700" y="1128268"/>
                  </a:lnTo>
                  <a:lnTo>
                    <a:pt x="12700" y="1115568"/>
                  </a:lnTo>
                  <a:lnTo>
                    <a:pt x="24396700" y="1115568"/>
                  </a:lnTo>
                  <a:lnTo>
                    <a:pt x="24396700" y="1128268"/>
                  </a:lnTo>
                  <a:lnTo>
                    <a:pt x="24384000" y="112826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409400" cy="114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Pillai HOC College of Engineering and Technology ( Autonomous )                                                                                                                           4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887936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65148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 descr="Python Software Foundation's logo"/>
          <p:cNvSpPr/>
          <p:nvPr/>
        </p:nvSpPr>
        <p:spPr>
          <a:xfrm>
            <a:off x="5432836" y="2026641"/>
            <a:ext cx="551076" cy="551076"/>
          </a:xfrm>
          <a:custGeom>
            <a:avLst/>
            <a:gdLst/>
            <a:ahLst/>
            <a:cxnLst/>
            <a:rect l="l" t="t" r="r" b="b"/>
            <a:pathLst>
              <a:path w="551076" h="551076">
                <a:moveTo>
                  <a:pt x="0" y="0"/>
                </a:moveTo>
                <a:lnTo>
                  <a:pt x="551076" y="0"/>
                </a:lnTo>
                <a:lnTo>
                  <a:pt x="551076" y="551076"/>
                </a:lnTo>
                <a:lnTo>
                  <a:pt x="0" y="5510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 descr="RDKit's logo"/>
          <p:cNvSpPr/>
          <p:nvPr/>
        </p:nvSpPr>
        <p:spPr>
          <a:xfrm>
            <a:off x="7790975" y="2559604"/>
            <a:ext cx="895847" cy="728070"/>
          </a:xfrm>
          <a:custGeom>
            <a:avLst/>
            <a:gdLst/>
            <a:ahLst/>
            <a:cxnLst/>
            <a:rect l="l" t="t" r="r" b="b"/>
            <a:pathLst>
              <a:path w="895847" h="728070">
                <a:moveTo>
                  <a:pt x="0" y="0"/>
                </a:moveTo>
                <a:lnTo>
                  <a:pt x="895847" y="0"/>
                </a:lnTo>
                <a:lnTo>
                  <a:pt x="895847" y="728069"/>
                </a:lnTo>
                <a:lnTo>
                  <a:pt x="0" y="7280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2304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723024" y="3972321"/>
            <a:ext cx="735754" cy="735754"/>
          </a:xfrm>
          <a:custGeom>
            <a:avLst/>
            <a:gdLst/>
            <a:ahLst/>
            <a:cxnLst/>
            <a:rect l="l" t="t" r="r" b="b"/>
            <a:pathLst>
              <a:path w="735754" h="735754">
                <a:moveTo>
                  <a:pt x="0" y="0"/>
                </a:moveTo>
                <a:lnTo>
                  <a:pt x="735753" y="0"/>
                </a:lnTo>
                <a:lnTo>
                  <a:pt x="735753" y="735754"/>
                </a:lnTo>
                <a:lnTo>
                  <a:pt x="0" y="7357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498730" y="4666545"/>
            <a:ext cx="679551" cy="706027"/>
          </a:xfrm>
          <a:custGeom>
            <a:avLst/>
            <a:gdLst/>
            <a:ahLst/>
            <a:cxnLst/>
            <a:rect l="l" t="t" r="r" b="b"/>
            <a:pathLst>
              <a:path w="679551" h="706027">
                <a:moveTo>
                  <a:pt x="0" y="0"/>
                </a:moveTo>
                <a:lnTo>
                  <a:pt x="679551" y="0"/>
                </a:lnTo>
                <a:lnTo>
                  <a:pt x="679551" y="706027"/>
                </a:lnTo>
                <a:lnTo>
                  <a:pt x="0" y="7060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595886" y="3356098"/>
            <a:ext cx="643013" cy="574693"/>
          </a:xfrm>
          <a:custGeom>
            <a:avLst/>
            <a:gdLst/>
            <a:ahLst/>
            <a:cxnLst/>
            <a:rect l="l" t="t" r="r" b="b"/>
            <a:pathLst>
              <a:path w="643013" h="574693">
                <a:moveTo>
                  <a:pt x="0" y="0"/>
                </a:moveTo>
                <a:lnTo>
                  <a:pt x="643014" y="0"/>
                </a:lnTo>
                <a:lnTo>
                  <a:pt x="643014" y="574693"/>
                </a:lnTo>
                <a:lnTo>
                  <a:pt x="0" y="5746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-6257659" y="-2350470"/>
            <a:ext cx="11966033" cy="11987829"/>
          </a:xfrm>
          <a:custGeom>
            <a:avLst/>
            <a:gdLst/>
            <a:ahLst/>
            <a:cxnLst/>
            <a:rect l="l" t="t" r="r" b="b"/>
            <a:pathLst>
              <a:path w="11966033" h="11987829">
                <a:moveTo>
                  <a:pt x="0" y="0"/>
                </a:moveTo>
                <a:lnTo>
                  <a:pt x="11966033" y="0"/>
                </a:lnTo>
                <a:lnTo>
                  <a:pt x="11966033" y="11987829"/>
                </a:lnTo>
                <a:lnTo>
                  <a:pt x="0" y="119878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8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498730" y="5906180"/>
            <a:ext cx="7113253" cy="3352120"/>
          </a:xfrm>
          <a:custGeom>
            <a:avLst/>
            <a:gdLst/>
            <a:ahLst/>
            <a:cxnLst/>
            <a:rect l="l" t="t" r="r" b="b"/>
            <a:pathLst>
              <a:path w="7113253" h="3352120">
                <a:moveTo>
                  <a:pt x="0" y="0"/>
                </a:moveTo>
                <a:lnTo>
                  <a:pt x="7113253" y="0"/>
                </a:lnTo>
                <a:lnTo>
                  <a:pt x="7113253" y="3352120"/>
                </a:lnTo>
                <a:lnTo>
                  <a:pt x="0" y="335212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9889312" y="5258929"/>
            <a:ext cx="20574" cy="4114800"/>
          </a:xfrm>
          <a:custGeom>
            <a:avLst/>
            <a:gdLst/>
            <a:ahLst/>
            <a:cxnLst/>
            <a:rect l="l" t="t" r="r" b="b"/>
            <a:pathLst>
              <a:path w="20574" h="4114800">
                <a:moveTo>
                  <a:pt x="0" y="0"/>
                </a:moveTo>
                <a:lnTo>
                  <a:pt x="20574" y="0"/>
                </a:lnTo>
                <a:lnTo>
                  <a:pt x="2057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-5400000">
            <a:off x="8236666" y="6796146"/>
            <a:ext cx="3542171" cy="236879"/>
          </a:xfrm>
          <a:custGeom>
            <a:avLst/>
            <a:gdLst/>
            <a:ahLst/>
            <a:cxnLst/>
            <a:rect l="l" t="t" r="r" b="b"/>
            <a:pathLst>
              <a:path w="3542171" h="236879">
                <a:moveTo>
                  <a:pt x="0" y="0"/>
                </a:moveTo>
                <a:lnTo>
                  <a:pt x="3542171" y="0"/>
                </a:lnTo>
                <a:lnTo>
                  <a:pt x="3542171" y="236879"/>
                </a:lnTo>
                <a:lnTo>
                  <a:pt x="0" y="23687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9844334" y="5696484"/>
            <a:ext cx="2667895" cy="566928"/>
          </a:xfrm>
          <a:custGeom>
            <a:avLst/>
            <a:gdLst/>
            <a:ahLst/>
            <a:cxnLst/>
            <a:rect l="l" t="t" r="r" b="b"/>
            <a:pathLst>
              <a:path w="2667895" h="566928">
                <a:moveTo>
                  <a:pt x="0" y="0"/>
                </a:moveTo>
                <a:lnTo>
                  <a:pt x="2667895" y="0"/>
                </a:lnTo>
                <a:lnTo>
                  <a:pt x="2667895" y="566928"/>
                </a:lnTo>
                <a:lnTo>
                  <a:pt x="0" y="56692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28700" y="1912341"/>
            <a:ext cx="12992100" cy="3342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Backend:</a:t>
            </a:r>
            <a:r>
              <a:rPr lang="en-US" sz="3452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Python</a:t>
            </a: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Molecular processing:</a:t>
            </a:r>
            <a:r>
              <a:rPr lang="en-US" sz="3452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3452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RDKit</a:t>
            </a:r>
            <a:endParaRPr lang="en-US" sz="3452" dirty="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Generative model:</a:t>
            </a:r>
            <a:r>
              <a:rPr lang="en-US" sz="3452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-US" sz="3452" dirty="0" err="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TangGen</a:t>
            </a:r>
            <a:endParaRPr lang="en-US" sz="3452" dirty="0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Predictive models:</a:t>
            </a:r>
            <a:r>
              <a:rPr lang="en-US" sz="3452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Multiple independent ML models</a:t>
            </a: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 b="1" dirty="0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Frontend: </a:t>
            </a:r>
            <a:r>
              <a:rPr lang="en-US" sz="3452" dirty="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Web-based research dashboard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-2271123" y="1374629"/>
            <a:ext cx="12430077" cy="606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71"/>
              </a:lnSpc>
              <a:spcBef>
                <a:spcPct val="0"/>
              </a:spcBef>
            </a:pPr>
            <a:r>
              <a:rPr lang="en-US" sz="355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</a:t>
            </a:r>
            <a:r>
              <a:rPr lang="en-US" sz="3551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hnologies to be used: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57089" y="442341"/>
            <a:ext cx="9332224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TECHNICAL APPROACH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5374825"/>
            <a:ext cx="12430077" cy="605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71"/>
              </a:lnSpc>
              <a:spcBef>
                <a:spcPct val="0"/>
              </a:spcBef>
            </a:pPr>
            <a:r>
              <a:rPr lang="en-US" sz="355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 / Process: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6003742"/>
            <a:ext cx="9669519" cy="32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Disease &amp; target protein identification</a:t>
            </a: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SMILES-based molecular retrieval</a:t>
            </a: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 novo molecule generation</a:t>
            </a: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Multi-model evaluation</a:t>
            </a:r>
          </a:p>
          <a:p>
            <a:pPr marL="745433" lvl="1" indent="-372717" algn="l">
              <a:lnSpc>
                <a:spcPts val="5317"/>
              </a:lnSpc>
              <a:buFont typeface="Arial"/>
              <a:buChar char="•"/>
            </a:pPr>
            <a:r>
              <a:rPr lang="en-US" sz="345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Filtering, comparison, and ranking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440799"/>
            <a:ext cx="18307050" cy="855726"/>
            <a:chOff x="0" y="0"/>
            <a:chExt cx="24409400" cy="114096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115568"/>
            </a:xfrm>
            <a:custGeom>
              <a:avLst/>
              <a:gdLst/>
              <a:ahLst/>
              <a:cxnLst/>
              <a:rect l="l" t="t" r="r" b="b"/>
              <a:pathLst>
                <a:path w="24384000" h="1115568">
                  <a:moveTo>
                    <a:pt x="0" y="0"/>
                  </a:moveTo>
                  <a:lnTo>
                    <a:pt x="24384000" y="0"/>
                  </a:lnTo>
                  <a:lnTo>
                    <a:pt x="24384000" y="1115568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C1D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140968"/>
            </a:xfrm>
            <a:custGeom>
              <a:avLst/>
              <a:gdLst/>
              <a:ahLst/>
              <a:cxnLst/>
              <a:rect l="l" t="t" r="r" b="b"/>
              <a:pathLst>
                <a:path w="24409400" h="1140968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128268"/>
                  </a:lnTo>
                  <a:cubicBezTo>
                    <a:pt x="24409400" y="1135253"/>
                    <a:pt x="24403686" y="1140968"/>
                    <a:pt x="24396700" y="1140968"/>
                  </a:cubicBezTo>
                  <a:lnTo>
                    <a:pt x="12700" y="1140968"/>
                  </a:lnTo>
                  <a:cubicBezTo>
                    <a:pt x="5715" y="1140968"/>
                    <a:pt x="0" y="1135253"/>
                    <a:pt x="0" y="112826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28268"/>
                  </a:lnTo>
                  <a:lnTo>
                    <a:pt x="12700" y="1128268"/>
                  </a:lnTo>
                  <a:lnTo>
                    <a:pt x="12700" y="1115568"/>
                  </a:lnTo>
                  <a:lnTo>
                    <a:pt x="24396700" y="1115568"/>
                  </a:lnTo>
                  <a:lnTo>
                    <a:pt x="24396700" y="1128268"/>
                  </a:lnTo>
                  <a:lnTo>
                    <a:pt x="24384000" y="112826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409400" cy="114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Pillai HOC College of Engineering and Technology ( Autonomous )                                                                                                                           5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887936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65148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57089" y="442341"/>
            <a:ext cx="9488519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IMPACT AND BENEFITS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9100" y="2708566"/>
            <a:ext cx="10832583" cy="1085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Accelerates </a:t>
            </a: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early-stage drug discovery.</a:t>
            </a:r>
          </a:p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Supports researchers </a:t>
            </a: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with</a:t>
            </a: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 faster candidate exploration.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60711" y="1936833"/>
            <a:ext cx="4494938" cy="59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943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mpact :</a:t>
            </a:r>
          </a:p>
        </p:txBody>
      </p:sp>
      <p:sp>
        <p:nvSpPr>
          <p:cNvPr id="11" name="Freeform 11"/>
          <p:cNvSpPr/>
          <p:nvPr/>
        </p:nvSpPr>
        <p:spPr>
          <a:xfrm>
            <a:off x="-6257659" y="-2350470"/>
            <a:ext cx="11966033" cy="11987829"/>
          </a:xfrm>
          <a:custGeom>
            <a:avLst/>
            <a:gdLst/>
            <a:ahLst/>
            <a:cxnLst/>
            <a:rect l="l" t="t" r="r" b="b"/>
            <a:pathLst>
              <a:path w="11966033" h="11987829">
                <a:moveTo>
                  <a:pt x="0" y="0"/>
                </a:moveTo>
                <a:lnTo>
                  <a:pt x="11966033" y="0"/>
                </a:lnTo>
                <a:lnTo>
                  <a:pt x="11966033" y="11987829"/>
                </a:lnTo>
                <a:lnTo>
                  <a:pt x="0" y="11987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5400000">
            <a:off x="5640486" y="5901127"/>
            <a:ext cx="4126489" cy="392016"/>
          </a:xfrm>
          <a:custGeom>
            <a:avLst/>
            <a:gdLst/>
            <a:ahLst/>
            <a:cxnLst/>
            <a:rect l="l" t="t" r="r" b="b"/>
            <a:pathLst>
              <a:path w="4126489" h="392016">
                <a:moveTo>
                  <a:pt x="0" y="0"/>
                </a:moveTo>
                <a:lnTo>
                  <a:pt x="4126488" y="0"/>
                </a:lnTo>
                <a:lnTo>
                  <a:pt x="4126488" y="392016"/>
                </a:lnTo>
                <a:lnTo>
                  <a:pt x="0" y="392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276169" y="1581272"/>
            <a:ext cx="1022479" cy="1092101"/>
          </a:xfrm>
          <a:custGeom>
            <a:avLst/>
            <a:gdLst/>
            <a:ahLst/>
            <a:cxnLst/>
            <a:rect l="l" t="t" r="r" b="b"/>
            <a:pathLst>
              <a:path w="1022479" h="1092101">
                <a:moveTo>
                  <a:pt x="0" y="0"/>
                </a:moveTo>
                <a:lnTo>
                  <a:pt x="1022479" y="0"/>
                </a:lnTo>
                <a:lnTo>
                  <a:pt x="1022479" y="1092101"/>
                </a:lnTo>
                <a:lnTo>
                  <a:pt x="0" y="1092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431537" y="4178201"/>
            <a:ext cx="984632" cy="984632"/>
          </a:xfrm>
          <a:custGeom>
            <a:avLst/>
            <a:gdLst/>
            <a:ahLst/>
            <a:cxnLst/>
            <a:rect l="l" t="t" r="r" b="b"/>
            <a:pathLst>
              <a:path w="984632" h="984632">
                <a:moveTo>
                  <a:pt x="0" y="0"/>
                </a:moveTo>
                <a:lnTo>
                  <a:pt x="984632" y="0"/>
                </a:lnTo>
                <a:lnTo>
                  <a:pt x="984632" y="984632"/>
                </a:lnTo>
                <a:lnTo>
                  <a:pt x="0" y="984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1166413" y="4070732"/>
            <a:ext cx="814970" cy="977475"/>
          </a:xfrm>
          <a:custGeom>
            <a:avLst/>
            <a:gdLst/>
            <a:ahLst/>
            <a:cxnLst/>
            <a:rect l="l" t="t" r="r" b="b"/>
            <a:pathLst>
              <a:path w="814970" h="977475">
                <a:moveTo>
                  <a:pt x="0" y="0"/>
                </a:moveTo>
                <a:lnTo>
                  <a:pt x="814970" y="0"/>
                </a:lnTo>
                <a:lnTo>
                  <a:pt x="814970" y="977475"/>
                </a:lnTo>
                <a:lnTo>
                  <a:pt x="0" y="9774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425996" y="4949327"/>
            <a:ext cx="9862004" cy="2190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Saves time</a:t>
            </a: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in molecular screening.</a:t>
            </a:r>
          </a:p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Improves chemical diversity </a:t>
            </a: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and validity.</a:t>
            </a:r>
          </a:p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Multi-factor evaluation</a:t>
            </a: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 beyond structural similarity.</a:t>
            </a:r>
          </a:p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Practical, </a:t>
            </a:r>
            <a:r>
              <a:rPr lang="en-US" sz="2865" b="1">
                <a:gradFill>
                  <a:gsLst>
                    <a:gs pos="0">
                      <a:srgbClr val="B1243D">
                        <a:alpha val="100000"/>
                      </a:srgbClr>
                    </a:gs>
                    <a:gs pos="100000">
                      <a:srgbClr val="D36F1B">
                        <a:alpha val="100000"/>
                      </a:srgbClr>
                    </a:gs>
                  </a:gsLst>
                  <a:lin ang="0"/>
                </a:gradFill>
                <a:latin typeface="Lora Bold"/>
                <a:ea typeface="Lora Bold"/>
                <a:cs typeface="Lora Bold"/>
                <a:sym typeface="Lora Bold"/>
              </a:rPr>
              <a:t>researcher-friendly interface.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55352" y="4452088"/>
            <a:ext cx="4092200" cy="59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943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Benefi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ts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57089" y="5052777"/>
            <a:ext cx="6424375" cy="1638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Drug discovery researchers.</a:t>
            </a:r>
          </a:p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Academic labs.</a:t>
            </a:r>
          </a:p>
          <a:p>
            <a:pPr marL="618672" lvl="1" indent="-309336" algn="just">
              <a:lnSpc>
                <a:spcPts val="4412"/>
              </a:lnSpc>
              <a:buFont typeface="Arial"/>
              <a:buChar char="•"/>
            </a:pPr>
            <a:r>
              <a:rPr lang="en-US" sz="2865" b="1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Early-stage pharma R&amp;D teams.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452088"/>
            <a:ext cx="4494938" cy="59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943"/>
              </a:lnSpc>
              <a:spcBef>
                <a:spcPct val="0"/>
              </a:spcBef>
            </a:pPr>
            <a:r>
              <a:rPr lang="en-US" sz="353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Targe</a:t>
            </a:r>
            <a:r>
              <a:rPr lang="en-US" sz="3530" u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 users 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9440799"/>
            <a:ext cx="18307050" cy="855726"/>
            <a:chOff x="0" y="0"/>
            <a:chExt cx="24409400" cy="1140968"/>
          </a:xfrm>
        </p:grpSpPr>
        <p:sp>
          <p:nvSpPr>
            <p:cNvPr id="3" name="Freeform 3"/>
            <p:cNvSpPr/>
            <p:nvPr/>
          </p:nvSpPr>
          <p:spPr>
            <a:xfrm>
              <a:off x="12700" y="12700"/>
              <a:ext cx="24384000" cy="1115568"/>
            </a:xfrm>
            <a:custGeom>
              <a:avLst/>
              <a:gdLst/>
              <a:ahLst/>
              <a:cxnLst/>
              <a:rect l="l" t="t" r="r" b="b"/>
              <a:pathLst>
                <a:path w="24384000" h="1115568">
                  <a:moveTo>
                    <a:pt x="0" y="0"/>
                  </a:moveTo>
                  <a:lnTo>
                    <a:pt x="24384000" y="0"/>
                  </a:lnTo>
                  <a:lnTo>
                    <a:pt x="24384000" y="1115568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C1D27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24409400" cy="1140968"/>
            </a:xfrm>
            <a:custGeom>
              <a:avLst/>
              <a:gdLst/>
              <a:ahLst/>
              <a:cxnLst/>
              <a:rect l="l" t="t" r="r" b="b"/>
              <a:pathLst>
                <a:path w="24409400" h="1140968">
                  <a:moveTo>
                    <a:pt x="12700" y="0"/>
                  </a:moveTo>
                  <a:lnTo>
                    <a:pt x="24396700" y="0"/>
                  </a:lnTo>
                  <a:cubicBezTo>
                    <a:pt x="24403686" y="0"/>
                    <a:pt x="24409400" y="5715"/>
                    <a:pt x="24409400" y="12700"/>
                  </a:cubicBezTo>
                  <a:lnTo>
                    <a:pt x="24409400" y="1128268"/>
                  </a:lnTo>
                  <a:cubicBezTo>
                    <a:pt x="24409400" y="1135253"/>
                    <a:pt x="24403686" y="1140968"/>
                    <a:pt x="24396700" y="1140968"/>
                  </a:cubicBezTo>
                  <a:lnTo>
                    <a:pt x="12700" y="1140968"/>
                  </a:lnTo>
                  <a:cubicBezTo>
                    <a:pt x="5715" y="1140968"/>
                    <a:pt x="0" y="1135253"/>
                    <a:pt x="0" y="1128268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128268"/>
                  </a:lnTo>
                  <a:lnTo>
                    <a:pt x="12700" y="1128268"/>
                  </a:lnTo>
                  <a:lnTo>
                    <a:pt x="12700" y="1115568"/>
                  </a:lnTo>
                  <a:lnTo>
                    <a:pt x="24396700" y="1115568"/>
                  </a:lnTo>
                  <a:lnTo>
                    <a:pt x="24396700" y="1128268"/>
                  </a:lnTo>
                  <a:lnTo>
                    <a:pt x="24384000" y="1128268"/>
                  </a:lnTo>
                  <a:lnTo>
                    <a:pt x="24384000" y="12700"/>
                  </a:lnTo>
                  <a:lnTo>
                    <a:pt x="24396700" y="12700"/>
                  </a:lnTo>
                  <a:lnTo>
                    <a:pt x="24396700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172C51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24409400" cy="1140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FFFFFF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Pillai HOC College of Engineering and Technology ( Autonomous )                                                                                                                           6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3887936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965148" y="146304"/>
            <a:ext cx="1857204" cy="1857204"/>
          </a:xfrm>
          <a:custGeom>
            <a:avLst/>
            <a:gdLst/>
            <a:ahLst/>
            <a:cxnLst/>
            <a:rect l="l" t="t" r="r" b="b"/>
            <a:pathLst>
              <a:path w="1857204" h="1857204">
                <a:moveTo>
                  <a:pt x="0" y="0"/>
                </a:moveTo>
                <a:lnTo>
                  <a:pt x="1857203" y="0"/>
                </a:lnTo>
                <a:lnTo>
                  <a:pt x="1857203" y="1857204"/>
                </a:lnTo>
                <a:lnTo>
                  <a:pt x="0" y="18572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57089" y="442341"/>
            <a:ext cx="12260913" cy="998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RESEARCH AND REFERENCES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9445" y="2716592"/>
            <a:ext cx="16849855" cy="4399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8168" lvl="1" indent="-354084" algn="l">
              <a:lnSpc>
                <a:spcPts val="5051"/>
              </a:lnSpc>
              <a:buFont typeface="Arial"/>
              <a:buChar char="•"/>
            </a:pPr>
            <a:r>
              <a:rPr lang="en-US" sz="3280" b="1">
                <a:solidFill>
                  <a:srgbClr val="1C1D27"/>
                </a:solidFill>
                <a:latin typeface="Lora Bold"/>
                <a:ea typeface="Lora Bold"/>
                <a:cs typeface="Lora Bold"/>
                <a:sym typeface="Lora Bold"/>
              </a:rPr>
              <a:t>https://www.drugpatentwatch.com</a:t>
            </a:r>
          </a:p>
          <a:p>
            <a:pPr marL="708168" lvl="1" indent="-354084" algn="l">
              <a:lnSpc>
                <a:spcPts val="5051"/>
              </a:lnSpc>
              <a:buFont typeface="Arial"/>
              <a:buChar char="•"/>
            </a:pPr>
            <a:r>
              <a:rPr lang="en-US" sz="3280" b="1">
                <a:solidFill>
                  <a:srgbClr val="1C1D27"/>
                </a:solidFill>
                <a:latin typeface="Lora Bold"/>
                <a:ea typeface="Lora Bold"/>
                <a:cs typeface="Lora Bold"/>
                <a:sym typeface="Lora Bold"/>
              </a:rPr>
              <a:t>https://www.rsc.org</a:t>
            </a:r>
          </a:p>
          <a:p>
            <a:pPr marL="708168" lvl="1" indent="-354084" algn="l">
              <a:lnSpc>
                <a:spcPts val="5051"/>
              </a:lnSpc>
              <a:buFont typeface="Arial"/>
              <a:buChar char="•"/>
            </a:pPr>
            <a:r>
              <a:rPr lang="en-US" sz="3280" b="1">
                <a:solidFill>
                  <a:srgbClr val="1C1D27"/>
                </a:solidFill>
                <a:latin typeface="Lora Bold"/>
                <a:ea typeface="Lora Bold"/>
                <a:cs typeface="Lora Bold"/>
                <a:sym typeface="Lora Bold"/>
              </a:rPr>
              <a:t>https://arxiv.org/search/?query=transformer+molecular+generation&amp;searchtype=all</a:t>
            </a:r>
          </a:p>
          <a:p>
            <a:pPr marL="708168" lvl="1" indent="-354084" algn="l">
              <a:lnSpc>
                <a:spcPts val="5051"/>
              </a:lnSpc>
              <a:buFont typeface="Arial"/>
              <a:buChar char="•"/>
            </a:pPr>
            <a:r>
              <a:rPr lang="en-US" sz="3280" b="1">
                <a:solidFill>
                  <a:srgbClr val="1C1D27"/>
                </a:solidFill>
                <a:latin typeface="Lora Bold"/>
                <a:ea typeface="Lora Bold"/>
                <a:cs typeface="Lora Bold"/>
                <a:sym typeface="Lora Bold"/>
              </a:rPr>
              <a:t>https://www.ebi.ac.uk/chembl/</a:t>
            </a:r>
          </a:p>
          <a:p>
            <a:pPr marL="708168" lvl="1" indent="-354084" algn="l">
              <a:lnSpc>
                <a:spcPts val="5051"/>
              </a:lnSpc>
              <a:buFont typeface="Arial"/>
              <a:buChar char="•"/>
            </a:pPr>
            <a:r>
              <a:rPr lang="en-US" sz="3280" b="1">
                <a:solidFill>
                  <a:srgbClr val="1C1D27"/>
                </a:solidFill>
                <a:latin typeface="Lora Bold"/>
                <a:ea typeface="Lora Bold"/>
                <a:cs typeface="Lora Bold"/>
                <a:sym typeface="Lora Bold"/>
              </a:rPr>
              <a:t>https://www.opentargets.org</a:t>
            </a:r>
          </a:p>
          <a:p>
            <a:pPr marL="708168" lvl="1" indent="-354084" algn="l">
              <a:lnSpc>
                <a:spcPts val="5051"/>
              </a:lnSpc>
              <a:buFont typeface="Arial"/>
              <a:buChar char="•"/>
            </a:pPr>
            <a:r>
              <a:rPr lang="en-US" sz="3280" b="1">
                <a:solidFill>
                  <a:srgbClr val="1C1D27"/>
                </a:solidFill>
                <a:latin typeface="Lora Bold"/>
                <a:ea typeface="Lora Bold"/>
                <a:cs typeface="Lora Bold"/>
                <a:sym typeface="Lora Bold"/>
              </a:rPr>
              <a:t>https://iclr.cc</a:t>
            </a:r>
          </a:p>
        </p:txBody>
      </p:sp>
      <p:sp>
        <p:nvSpPr>
          <p:cNvPr id="10" name="Freeform 10"/>
          <p:cNvSpPr/>
          <p:nvPr/>
        </p:nvSpPr>
        <p:spPr>
          <a:xfrm>
            <a:off x="-6257659" y="-2350470"/>
            <a:ext cx="11966033" cy="11987829"/>
          </a:xfrm>
          <a:custGeom>
            <a:avLst/>
            <a:gdLst/>
            <a:ahLst/>
            <a:cxnLst/>
            <a:rect l="l" t="t" r="r" b="b"/>
            <a:pathLst>
              <a:path w="11966033" h="11987829">
                <a:moveTo>
                  <a:pt x="0" y="0"/>
                </a:moveTo>
                <a:lnTo>
                  <a:pt x="11966033" y="0"/>
                </a:lnTo>
                <a:lnTo>
                  <a:pt x="11966033" y="11987829"/>
                </a:lnTo>
                <a:lnTo>
                  <a:pt x="0" y="119878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459</Words>
  <Application>Microsoft Office PowerPoint</Application>
  <PresentationFormat>Custom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Montserrat Medium</vt:lpstr>
      <vt:lpstr>Lora Bold</vt:lpstr>
      <vt:lpstr>Montserrat</vt:lpstr>
      <vt:lpstr>Calibri</vt:lpstr>
      <vt:lpstr>Lora</vt:lpstr>
      <vt:lpstr>Montserrat Bold</vt:lpstr>
      <vt:lpstr>Arial</vt:lpstr>
      <vt:lpstr>Garet Bold</vt:lpstr>
      <vt:lpstr>Arimo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PIXEL’s_HACKOVERFLOW 4.0 PPT Format.pptx</dc:title>
  <cp:lastModifiedBy>Harsh Mishra</cp:lastModifiedBy>
  <cp:revision>2</cp:revision>
  <dcterms:created xsi:type="dcterms:W3CDTF">2006-08-16T00:00:00Z</dcterms:created>
  <dcterms:modified xsi:type="dcterms:W3CDTF">2026-01-19T16:28:56Z</dcterms:modified>
  <dc:identifier>DAG9ioqh0vE</dc:identifier>
</cp:coreProperties>
</file>